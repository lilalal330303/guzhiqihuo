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d4c44677854e9b" /><Relationship Type="http://schemas.openxmlformats.org/officeDocument/2006/relationships/extended-properties" Target="/docProps/app.xml" Id="R15558f0d7cb04944" /><Relationship Type="http://schemas.openxmlformats.org/officeDocument/2006/relationships/officeDocument" Target="/ppt/presentation.xml" Id="R3fec0dfc797b4f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ffbf4c95ed4489"/>
  </p:sldMasterIdLst>
  <p:notesMasterIdLst>
    <p:notesMasterId xmlns:r="http://schemas.openxmlformats.org/officeDocument/2006/relationships" r:id="R3ae3677040f640cb"/>
  </p:notesMasterIdLst>
  <p:sldIdLst>
    <p:sldId xmlns:r="http://schemas.openxmlformats.org/officeDocument/2006/relationships" id="256" r:id="R876eef7dd7eb4d71"/>
    <p:sldId xmlns:r="http://schemas.openxmlformats.org/officeDocument/2006/relationships" id="257" r:id="R51c1be1ad7bf40aa"/>
    <p:sldId xmlns:r="http://schemas.openxmlformats.org/officeDocument/2006/relationships" id="258" r:id="R94fb254e41fe4c14"/>
    <p:sldId xmlns:r="http://schemas.openxmlformats.org/officeDocument/2006/relationships" id="259" r:id="R32eeeb9ef1b34172"/>
    <p:sldId xmlns:r="http://schemas.openxmlformats.org/officeDocument/2006/relationships" id="260" r:id="Re9762da769494058"/>
    <p:sldId xmlns:r="http://schemas.openxmlformats.org/officeDocument/2006/relationships" id="261" r:id="R85d23e88bbe7461d"/>
    <p:sldId xmlns:r="http://schemas.openxmlformats.org/officeDocument/2006/relationships" id="262" r:id="R25e524153a544cf2"/>
    <p:sldId xmlns:r="http://schemas.openxmlformats.org/officeDocument/2006/relationships" id="263" r:id="Rfad01c1b3df84bd4"/>
    <p:sldId xmlns:r="http://schemas.openxmlformats.org/officeDocument/2006/relationships" id="264" r:id="Re910ad27e1ac4f66"/>
    <p:sldId xmlns:r="http://schemas.openxmlformats.org/officeDocument/2006/relationships" id="265" r:id="R67d9364b29d24f9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8e17e8e4b94d38" /><Relationship Type="http://schemas.openxmlformats.org/officeDocument/2006/relationships/slideMaster" Target="/ppt/slideMasters/slideMaster1.xml" Id="Rcaffbf4c95ed4489" /><Relationship Type="http://schemas.openxmlformats.org/officeDocument/2006/relationships/notesMaster" Target="/ppt/notesMasters/notesMaster1.xml" Id="R3ae3677040f640cb" /><Relationship Type="http://schemas.openxmlformats.org/officeDocument/2006/relationships/presProps" Target="/ppt/presProps.xml" Id="R5e65e5da8021427b" /><Relationship Type="http://schemas.openxmlformats.org/officeDocument/2006/relationships/tableStyles" Target="/ppt/tableStyles.xml" Id="Rcd2f1f56c68749ff" /><Relationship Type="http://schemas.openxmlformats.org/officeDocument/2006/relationships/slide" Target="/ppt/slides/slide1.xml" Id="R876eef7dd7eb4d71" /><Relationship Type="http://schemas.openxmlformats.org/officeDocument/2006/relationships/slide" Target="/ppt/slides/slide2.xml" Id="R51c1be1ad7bf40aa" /><Relationship Type="http://schemas.openxmlformats.org/officeDocument/2006/relationships/slide" Target="/ppt/slides/slide3.xml" Id="R94fb254e41fe4c14" /><Relationship Type="http://schemas.openxmlformats.org/officeDocument/2006/relationships/slide" Target="/ppt/slides/slide4.xml" Id="R32eeeb9ef1b34172" /><Relationship Type="http://schemas.openxmlformats.org/officeDocument/2006/relationships/slide" Target="/ppt/slides/slide5.xml" Id="Re9762da769494058" /><Relationship Type="http://schemas.openxmlformats.org/officeDocument/2006/relationships/slide" Target="/ppt/slides/slide6.xml" Id="R85d23e88bbe7461d" /><Relationship Type="http://schemas.openxmlformats.org/officeDocument/2006/relationships/slide" Target="/ppt/slides/slide7.xml" Id="R25e524153a544cf2" /><Relationship Type="http://schemas.openxmlformats.org/officeDocument/2006/relationships/slide" Target="/ppt/slides/slide8.xml" Id="Rfad01c1b3df84bd4" /><Relationship Type="http://schemas.openxmlformats.org/officeDocument/2006/relationships/slide" Target="/ppt/slides/slide9.xml" Id="Re910ad27e1ac4f66" /><Relationship Type="http://schemas.openxmlformats.org/officeDocument/2006/relationships/slide" Target="/ppt/slides/slide10.xml" Id="R67d9364b29d24f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913541da3343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0b61fb35bf4032" /><Relationship Type="http://schemas.openxmlformats.org/officeDocument/2006/relationships/notesMaster" Target="/ppt/notesMasters/notesMaster1.xml" Id="Re432a109a75e4c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430bf8322b431a" /><Relationship Type="http://schemas.openxmlformats.org/officeDocument/2006/relationships/notesMaster" Target="/ppt/notesMasters/notesMaster1.xml" Id="R7a2c7fcb7c454e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93cd272ba146dd" /><Relationship Type="http://schemas.openxmlformats.org/officeDocument/2006/relationships/notesMaster" Target="/ppt/notesMasters/notesMaster1.xml" Id="R39f2b3e4da3e44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d3f5f3966d4fbd" /><Relationship Type="http://schemas.openxmlformats.org/officeDocument/2006/relationships/notesMaster" Target="/ppt/notesMasters/notesMaster1.xml" Id="R7c1c17f8332941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735664fe334ba1" /><Relationship Type="http://schemas.openxmlformats.org/officeDocument/2006/relationships/notesMaster" Target="/ppt/notesMasters/notesMaster1.xml" Id="Ra742f24f44ab49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37451364cf4cd0" /><Relationship Type="http://schemas.openxmlformats.org/officeDocument/2006/relationships/notesMaster" Target="/ppt/notesMasters/notesMaster1.xml" Id="R4902e634ad6d49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b5f363d5b84893" /><Relationship Type="http://schemas.openxmlformats.org/officeDocument/2006/relationships/notesMaster" Target="/ppt/notesMasters/notesMaster1.xml" Id="Rbc6fb7ae8efc4c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2f477fae8b4c30" /><Relationship Type="http://schemas.openxmlformats.org/officeDocument/2006/relationships/notesMaster" Target="/ppt/notesMasters/notesMaster1.xml" Id="R9842508546f447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282d86841c4f72" /><Relationship Type="http://schemas.openxmlformats.org/officeDocument/2006/relationships/notesMaster" Target="/ppt/notesMasters/notesMaster1.xml" Id="R17dc98d5cfbe45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9677010c754403" /><Relationship Type="http://schemas.openxmlformats.org/officeDocument/2006/relationships/notesMaster" Target="/ppt/notesMasters/notesMaster1.xml" Id="R8a434058f1a04a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094a2620cd43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eb26ef1efc40f0" /><Relationship Type="http://schemas.openxmlformats.org/officeDocument/2006/relationships/slideLayout" Target="/ppt/slideLayouts/slideLayout1.xml" Id="R3a808f91e8944b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808f91e8944b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910a006534b8d" /><Relationship Type="http://schemas.openxmlformats.org/officeDocument/2006/relationships/image" Target="/ppt/media/image.jpeg" Id="R5699b2e5bf9e424b" /><Relationship Type="http://schemas.openxmlformats.org/officeDocument/2006/relationships/image" Target="/ppt/media/image2.jpeg" Id="Re5fa2d2192e241ef" /><Relationship Type="http://schemas.openxmlformats.org/officeDocument/2006/relationships/image" Target="/ppt/media/image3.jpeg" Id="R1e774116ea584492" /><Relationship Type="http://schemas.openxmlformats.org/officeDocument/2006/relationships/notesSlide" Target="/ppt/notesSlides/notesSlide1.xml" Id="R1f8d5d24f28d44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9b6a4e93c4205" /><Relationship Type="http://schemas.openxmlformats.org/officeDocument/2006/relationships/notesSlide" Target="/ppt/notesSlides/notesSlide2.xml" Id="R440754d746024f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b5a0bb8c44e66" /><Relationship Type="http://schemas.openxmlformats.org/officeDocument/2006/relationships/notesSlide" Target="/ppt/notesSlides/notesSlide3.xml" Id="R391229e115cb4b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f41df67054783" /><Relationship Type="http://schemas.openxmlformats.org/officeDocument/2006/relationships/image" Target="/ppt/media/image4.jpeg" Id="R7cbad6001fc3444d" /><Relationship Type="http://schemas.openxmlformats.org/officeDocument/2006/relationships/image" Target="/ppt/media/image5.jpeg" Id="Rd74b04ce71e54620" /><Relationship Type="http://schemas.openxmlformats.org/officeDocument/2006/relationships/notesSlide" Target="/ppt/notesSlides/notesSlide4.xml" Id="Re9be31dd707c4b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7f96233ea4170" /><Relationship Type="http://schemas.openxmlformats.org/officeDocument/2006/relationships/image" Target="/ppt/media/image.png" Id="Rffe23d4f358348a5" /><Relationship Type="http://schemas.openxmlformats.org/officeDocument/2006/relationships/image" Target="/ppt/media/image6.jpeg" Id="Rfefdab119eec4376" /><Relationship Type="http://schemas.openxmlformats.org/officeDocument/2006/relationships/image" Target="/ppt/media/image7.jpeg" Id="R49670ed2dbbc4468" /><Relationship Type="http://schemas.openxmlformats.org/officeDocument/2006/relationships/notesSlide" Target="/ppt/notesSlides/notesSlide5.xml" Id="R609a0b8bdee54a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901adf9e24805" /><Relationship Type="http://schemas.openxmlformats.org/officeDocument/2006/relationships/image" Target="/ppt/media/image8.jpeg" Id="R107e00c514d64343" /><Relationship Type="http://schemas.openxmlformats.org/officeDocument/2006/relationships/image" Target="/ppt/media/image9.jpeg" Id="Rc3a7a38ce6e148cb" /><Relationship Type="http://schemas.openxmlformats.org/officeDocument/2006/relationships/image" Target="/ppt/media/image2.png" Id="Rdec5843ec4894c43" /><Relationship Type="http://schemas.openxmlformats.org/officeDocument/2006/relationships/image" Target="/ppt/media/image10.jpeg" Id="R74e63c8dfaad4ba4" /><Relationship Type="http://schemas.openxmlformats.org/officeDocument/2006/relationships/notesSlide" Target="/ppt/notesSlides/notesSlide6.xml" Id="R97fcd5178b9a49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d1d66aac44f88" /><Relationship Type="http://schemas.openxmlformats.org/officeDocument/2006/relationships/image" Target="/ppt/media/image11.jpeg" Id="Rc9a67f5de61d477f" /><Relationship Type="http://schemas.openxmlformats.org/officeDocument/2006/relationships/image" Target="/ppt/media/image.bin" Id="Rd507c95f034e469a" /><Relationship Type="http://schemas.openxmlformats.org/officeDocument/2006/relationships/image" Target="/ppt/media/image3.png" Id="R08c36111e8d74ae1" /><Relationship Type="http://schemas.openxmlformats.org/officeDocument/2006/relationships/image" Target="/ppt/media/image12.jpeg" Id="R9dbba5b34a304093" /><Relationship Type="http://schemas.openxmlformats.org/officeDocument/2006/relationships/notesSlide" Target="/ppt/notesSlides/notesSlide7.xml" Id="R2aa5df0134684e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a2245b4a64fb8" /><Relationship Type="http://schemas.openxmlformats.org/officeDocument/2006/relationships/notesSlide" Target="/ppt/notesSlides/notesSlide8.xml" Id="R1622fb0ef3534b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5195f8b5b44b2" /><Relationship Type="http://schemas.openxmlformats.org/officeDocument/2006/relationships/notesSlide" Target="/ppt/notesSlides/notesSlide9.xml" Id="R41f1dcf1dda14a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7f838680047c1" /><Relationship Type="http://schemas.openxmlformats.org/officeDocument/2006/relationships/notesSlide" Target="/ppt/notesSlides/notesSlide10.xml" Id="Re89709a2a5764c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2D6F79-446D-456A-963E-F7B59B7B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476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ED7AA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A3412"/>
                </a:solidFill>
              </a:defRPr>
            </a:pPr>
            <a:r>
              <a:rPr sz="1200" b="1">
                <a:solidFill>
                  <a:srgbClr val="9A3412"/>
                </a:solidFill>
              </a:rPr>
              <a:t>微信小游戏 · 合成色块换皮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A4C2F-FDDB-4817-8FFA-C38825BC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《这关太疯狂》</a:t>
            </a:r>
          </a:p>
          <a:p xmlns:a="http://schemas.openxmlformats.org/drawingml/2006/main"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换皮美术方向分析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70CAA-08C0-4775-B34F-E3D44D49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74151"/>
                </a:solidFill>
              </a:defRPr>
            </a:pPr>
            <a:r>
              <a:rPr sz="1800">
                <a:solidFill>
                  <a:srgbClr val="374151"/>
                </a:solidFill>
              </a:rPr>
              <a:t>面向北美、东南亚、中东与全球通用市场，整理可落地的美术风格、UI语言、角色设计和参考图方向。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9b2e5bf9e424b"/>
          <a:srcRect xmlns:a="http://schemas.openxmlformats.org/drawingml/2006/main" l="0" t="15907" r="0" b="159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781050"/>
            <a:ext cx="3714750" cy="1981200"/>
          </a:xfrm>
          <a:prstGeom xmlns:a="http://schemas.openxmlformats.org/drawingml/2006/main" prst="roundRect">
            <a:avLst>
              <a:gd name="adj" fmla="val 3846"/>
            </a:avLst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a2d2192e241ef"/>
          <a:srcRect xmlns:a="http://schemas.openxmlformats.org/drawingml/2006/main" l="20271" t="0" r="202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2933700"/>
            <a:ext cx="3048000" cy="2362200"/>
          </a:xfrm>
          <a:prstGeom xmlns:a="http://schemas.openxmlformats.org/drawingml/2006/main" prst="roundRect">
            <a:avLst>
              <a:gd name="adj" fmla="val 3226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74116ea584492"/>
          <a:srcRect xmlns:a="http://schemas.openxmlformats.org/drawingml/2006/main" l="9375" t="0" r="9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3905250"/>
            <a:ext cx="2476500" cy="17145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F39C7-20DF-47DB-9F76-283B59CD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这关太疯狂 换皮美术方向分析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F39E9-BB0C-406E-B6EB-05FF9FB0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368581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5B33A9-90F3-4213-BCD2-DE7AD060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玩法决定换皮的承载点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D246A-3DFB-4696-A497-754EF7D0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这不是单纯换颜色，关键是把数字色块变成“可理解、可升级、可炫耀”的物件。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72D39-D8A1-4A37-855B-158190F1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6C7F1-3A3C-4B92-882B-062B71DC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19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合成物件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F5B90-6680-438D-8632-87A44D76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20/60/100 色块要替换成有成长链的物件，例如糖果、宝石、宠物蛋。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10CCC-F721-40C9-8AC4-A9C69CAD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0975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B1FCB-7733-4219-B844-3F071C7D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关卡目标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DF475-742E-4DD1-A480-F4355B66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03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顶部目标栏要换成地区用户熟悉的收集物，降低学习成本。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4D07F-8571-4A3C-86B8-92DBCB55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BB4C6-2073-4EA2-9098-4B12DF6E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道具入口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4CFC3-1A14-4AFD-A72C-D7EBB0BB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撤回、刷新、消除、加步数需要视觉上更像“救场工具”。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1EA20-9EF9-4581-B770-DA6866E8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0520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2AAEF-2E58-4DD4-B045-AFB6B4F2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角色助手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0CD91A-57EC-4E08-8322-F360D732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用一个低成本角色负责引导、失败安慰和过关庆祝。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94C7C4-1F9D-4900-9FBF-E685B7F9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这关太疯狂 换皮美术方向分析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BA57F4-4CF4-4A03-A227-2C0A3502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5398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DA9D35-FDC8-45D2-B2AF-A30F9E8E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四个市场需要四套视觉语言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F7226-B3AA-4F7B-AD28-BAA5EA10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同一个合成内核，可以用不同主题解决吸量、认知、文化适配和长期内容扩展。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76BD4-B68D-4B34-A86D-1BF0198E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2362200" cy="31432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3AC8A-C361-4BE8-B714-2253D39E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143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D047"/>
          </a:solidFill>
          <a:ln xmlns:a="http://schemas.openxmlformats.org/drawingml/2006/main" w="9525">
            <a:solidFill>
              <a:srgbClr val="FFD0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北美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AA1E5-9A97-47D6-987B-555BF942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1885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玩具工厂 / 糖果积木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DA908-D854-48BD-B9E2-9BC9B32A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1866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北美休闲用户熟悉高饱和、软3D、强奖励反馈；糖果和玩具能直接承接数字色块的合成爽感。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B0362-0537-4BDE-81DB-3B4C942C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A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C12C6-11AA-4CEC-8C89-0B2081B2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95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04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9CBB9-5AC8-4D4A-9E8F-F56AE8FC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95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B7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CDAEE-2502-4DFD-BC29-EA077F27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95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95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9DBF60-CF56-46E6-B445-0B34966D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95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4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ABD53-24B5-4025-8187-AF148985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66900"/>
            <a:ext cx="2362200" cy="31432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C58BD-953B-47C7-8B21-93D620FF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14550"/>
            <a:ext cx="1143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B000"/>
          </a:solidFill>
          <a:ln xmlns:a="http://schemas.openxmlformats.org/drawingml/2006/main" w="9525">
            <a:solidFill>
              <a:srgbClr val="FFB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东南亚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36420-A647-4F30-8B3F-B4EE1C4A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09850"/>
            <a:ext cx="1885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热带水果 / 夜市小吃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B744F-A57A-4246-9ED8-42DFD0D1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76600"/>
            <a:ext cx="1866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东南亚适合鲜艳、热闹、食物驱动的表达；水果和夜市能把合成从抽象数字变成可口的升级链。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870CC-2178-4375-8513-9C7D6377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95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22723F-0861-41CE-BC39-33A9B1E6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95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C1140B-D7AC-4D85-863F-E812E7F7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95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3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5263ED-CCCD-4B3D-A7F8-160E7A8F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95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95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266C0D-2D35-4D04-8291-B9CBF9B1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4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5031FB-E193-4A4F-8950-6ED91C67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66900"/>
            <a:ext cx="2362200" cy="31432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A02622-7EA6-44A3-AAEF-C903A6BA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1143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中东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0C70B1-58F5-4796-8FBA-C4F46248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09850"/>
            <a:ext cx="1885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沙漠宝石 / 巴扎藏宝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7DFAB2-AE47-4DE1-9990-841DC1AF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76600"/>
            <a:ext cx="1866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中东方向要做高级、金色、宝石和商队冒险感；保留奇幻和宝藏表达，避开敏感宗教符号。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B69C96-C419-47FC-A3D6-011A8A5C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95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B6C001-D341-482F-A323-DB75173F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E7FA02-D460-468D-A608-D5F84E7C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95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3FD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CD36FE-B50F-4C54-B0B9-B43E2C38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95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4B2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3DE5CC-0B87-4797-B990-E916D0BA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95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4CBC71-235B-4A95-9006-BCE539ED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66900"/>
            <a:ext cx="2362200" cy="31432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EEF9DB-0F6A-415C-8AFA-1B569DC9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14550"/>
            <a:ext cx="1143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9ACD"/>
          </a:solidFill>
          <a:ln xmlns:a="http://schemas.openxmlformats.org/drawingml/2006/main" w="9525">
            <a:solidFill>
              <a:srgbClr val="FF9AC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全球通用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3C4A64-045A-433A-9663-56644097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09850"/>
            <a:ext cx="1885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萌宠星球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D1FBDD-697A-4A70-BBF5-80B4907D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76600"/>
            <a:ext cx="1866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萌宠文化门槛最低，适合全球素材测试；宠物蛋和收集册能补上原玩法缺少的长期目标。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B9EE8F-CA11-4ED4-9E73-96D34D3C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95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D7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884AD4-F3B0-40BA-8495-9ACD6226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C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BF4A01-85E1-4CBF-94EB-3E572003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495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06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1DA9A9-0844-4FE1-ADEC-CCFFF64F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495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E77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E698B2-26A4-46D3-AB3D-70BD6BB3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495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A7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5DDC3F-7D57-4576-8C33-98698ED3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这关太疯狂 换皮美术方向分析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5BE5D0-0D09-45EA-B827-6B1EB206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561813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B6201C-6262-4A26-88DE-0BAE1A1B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33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D047"/>
          </a:solidFill>
          <a:ln xmlns:a="http://schemas.openxmlformats.org/drawingml/2006/main" w="9525">
            <a:solidFill>
              <a:srgbClr val="FFD0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北美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AEA1D-F4A3-49CB-8767-331316F4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玩具工厂 / 糖果积木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435F7-37B9-4711-8A6B-CE889F3C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北美休闲用户熟悉高饱和、软3D、强奖励反馈；糖果和玩具能直接承接数字色块的合成爽感。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1C712-3F88-40B9-9B0B-E06EEFCD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A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173E0-567B-4147-BDB3-B7DFDA98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04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D4DB1-8752-4674-8354-DB9C4F1D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B7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F906B-CB4E-4558-9A81-5CFA7F7B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95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9A476-F071-4D78-B0B0-B1AC8451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86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4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ad6001fc3444d"/>
          <a:srcRect xmlns:a="http://schemas.openxmlformats.org/drawingml/2006/main" l="0" t="4486" r="0" b="44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609600"/>
            <a:ext cx="2381250" cy="1695450"/>
          </a:xfrm>
          <a:prstGeom xmlns:a="http://schemas.openxmlformats.org/drawingml/2006/main" prst="roundRect">
            <a:avLst>
              <a:gd name="adj" fmla="val 4494"/>
            </a:avLst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b04ce71e54620"/>
          <a:srcRect xmlns:a="http://schemas.openxmlformats.org/drawingml/2006/main" l="17640" t="0" r="176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48750" y="609600"/>
            <a:ext cx="2381250" cy="1695450"/>
          </a:xfrm>
          <a:prstGeom xmlns:a="http://schemas.openxmlformats.org/drawingml/2006/main" prst="roundRect">
            <a:avLst>
              <a:gd name="adj" fmla="val 449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8D086D-52F5-40B8-8684-802F4524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5AA5"/>
                </a:solidFill>
              </a:defRPr>
            </a:pPr>
            <a:r>
              <a:rPr sz="1500" b="1">
                <a:solidFill>
                  <a:srgbClr val="FF5AA5"/>
                </a:solidFill>
              </a:rPr>
              <a:t>美术风格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C94F5-4830-4757-9EB7-B55F1CB2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813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高饱和 3D 卡通，软糖、塑料玩具、积木质感，圆润高光。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FF47C-EE80-4F02-AF0B-F918A3C7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5AA5"/>
                </a:solidFill>
              </a:defRPr>
            </a:pPr>
            <a:r>
              <a:rPr sz="1500" b="1">
                <a:solidFill>
                  <a:srgbClr val="FF5AA5"/>
                </a:solidFill>
              </a:rPr>
              <a:t>UI风格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26B8D-5313-4420-9936-BB98A124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718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大按钮、厚描边、金币和星星反馈明显，过关弹窗强调三星彩带。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D4749-E163-480B-BC01-1D811965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5AA5"/>
                </a:solidFill>
              </a:defRPr>
            </a:pPr>
            <a:r>
              <a:rPr sz="1500" b="1">
                <a:solidFill>
                  <a:srgbClr val="FF5AA5"/>
                </a:solidFill>
              </a:rPr>
              <a:t>角色设计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A87A8-17AF-4513-94CB-EA4C9A38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624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玩具工厂小助手、糖果精灵、玩具熊、搞怪机器人。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8C3488-56FF-4463-AAA6-02421C64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5AA5"/>
                </a:solidFill>
              </a:defRPr>
            </a:pPr>
            <a:r>
              <a:rPr sz="1500" b="1">
                <a:solidFill>
                  <a:srgbClr val="FF5AA5"/>
                </a:solidFill>
              </a:rPr>
              <a:t>合成替换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41F143-3217-41F9-8F5A-D83A6A42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529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20/60/100 色块替换为糖果块、积木盒、礼物箱，最终合成超级玩具。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497FD8-CB39-4776-8A7A-BA9DBE2A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5AA5"/>
                </a:solidFill>
              </a:defRPr>
            </a:pPr>
            <a:r>
              <a:rPr sz="1500" b="1">
                <a:solidFill>
                  <a:srgbClr val="FF5AA5"/>
                </a:solidFill>
              </a:rPr>
              <a:t>素材卖点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9B897B-9E7C-491F-AC28-139902F7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1435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“3个糖果合成超级礼盒”“救回玩具工厂”。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91D5AD-591D-4FC3-89C8-CA300F02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这关太疯狂 换皮美术方向分析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C1FD8D-7C99-4E19-BA7B-B101C897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493259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B45D95-64BE-4DCF-B9AD-26DE6111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33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B000"/>
          </a:solidFill>
          <a:ln xmlns:a="http://schemas.openxmlformats.org/drawingml/2006/main" w="9525">
            <a:solidFill>
              <a:srgbClr val="FFB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东南亚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21611-BB0A-415E-8445-3D1A9342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热带水果 / 夜市小吃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9FD72-C1E1-4D02-915C-5AF2AC2D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东南亚适合鲜艳、热闹、食物驱动的表达；水果和夜市能把合成从抽象数字变成可口的升级链。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AE827-2359-44FA-95B7-42F3E1FD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BB037-7F67-4EED-9A00-991AA07B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32FD4-50FD-4186-916B-DBEEBCC3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3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84239-DBA0-423C-A1EC-095832BF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95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64E53-C641-4F81-B63B-60D079C6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86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4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23d4f358348a5"/>
          <a:srcRect xmlns:a="http://schemas.openxmlformats.org/drawingml/2006/main" l="0" t="18356" r="0" b="183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609600"/>
            <a:ext cx="2381250" cy="1695450"/>
          </a:xfrm>
          <a:prstGeom xmlns:a="http://schemas.openxmlformats.org/drawingml/2006/main" prst="roundRect">
            <a:avLst>
              <a:gd name="adj" fmla="val 4494"/>
            </a:avLst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fdab119eec4376"/>
          <a:srcRect xmlns:a="http://schemas.openxmlformats.org/drawingml/2006/main" l="0" t="33583" r="0" b="335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48750" y="609600"/>
            <a:ext cx="2381250" cy="1695450"/>
          </a:xfrm>
          <a:prstGeom xmlns:a="http://schemas.openxmlformats.org/drawingml/2006/main" prst="roundRect">
            <a:avLst>
              <a:gd name="adj" fmla="val 4494"/>
            </a:avLst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70ed2dbbc4468"/>
          <a:srcRect xmlns:a="http://schemas.openxmlformats.org/drawingml/2006/main" l="10499" t="0" r="104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2495550"/>
            <a:ext cx="2381250" cy="1695450"/>
          </a:xfrm>
          <a:prstGeom xmlns:a="http://schemas.openxmlformats.org/drawingml/2006/main" prst="roundRect">
            <a:avLst>
              <a:gd name="adj" fmla="val 4494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3EF3F-BAA0-4F63-90D3-DD1EC41F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B8A9"/>
                </a:solidFill>
              </a:defRPr>
            </a:pPr>
            <a:r>
              <a:rPr sz="1500" b="1">
                <a:solidFill>
                  <a:srgbClr val="00B8A9"/>
                </a:solidFill>
              </a:rPr>
              <a:t>美术风格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6C477-B3A4-4E6D-B7FE-B560CDFE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813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热带明亮色，水果水润质感，夜市灯牌和节庆装饰。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31636-CE05-45DD-AA0F-37F5A66F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B8A9"/>
                </a:solidFill>
              </a:defRPr>
            </a:pPr>
            <a:r>
              <a:rPr sz="1500" b="1">
                <a:solidFill>
                  <a:srgbClr val="00B8A9"/>
                </a:solidFill>
              </a:rPr>
              <a:t>UI风格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FBFEC3-AF16-4F88-BEF8-5CF4ECDE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718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木牌、摊位招牌、果汁杯按钮，橙黄和青绿主导。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305446-8FE4-4BCA-BEC6-061A2C7F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B8A9"/>
                </a:solidFill>
              </a:defRPr>
            </a:pPr>
            <a:r>
              <a:rPr sz="1500" b="1">
                <a:solidFill>
                  <a:srgbClr val="00B8A9"/>
                </a:solidFill>
              </a:rPr>
              <a:t>角色设计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240214-CCAD-435B-AA7D-0F384671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624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夜市摊主、猫咪店员、榴莲老板、椰子小人。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6EDC9E-6AC1-4472-A639-86FB6E07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B8A9"/>
                </a:solidFill>
              </a:defRPr>
            </a:pPr>
            <a:r>
              <a:rPr sz="1500" b="1">
                <a:solidFill>
                  <a:srgbClr val="00B8A9"/>
                </a:solidFill>
              </a:rPr>
              <a:t>合成替换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5D8012-05C3-4A80-A7D2-B45B2F51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529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小水果合成饮品/甜品，小吃食材合成招牌拼盘。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EEFD32-9F7D-4345-92A6-DBEF34E3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B8A9"/>
                </a:solidFill>
              </a:defRPr>
            </a:pPr>
            <a:r>
              <a:rPr sz="1500" b="1">
                <a:solidFill>
                  <a:srgbClr val="00B8A9"/>
                </a:solidFill>
              </a:rPr>
              <a:t>素材卖点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C7D80E-34FC-43C1-96BB-E50BA822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1435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“3个榴莲合成黄金榴莲”“开局小摊，合成夜市”。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D61BFC-316D-4EE7-8720-7824F9D4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这关太疯狂 换皮美术方向分析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9CE22B-05B8-4DB8-A5D0-1D65EED3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23949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3AB5E1-AA2F-4893-9E20-EFA2DC98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33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中东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9A476-E5BF-4549-8817-24FAEBA4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沙漠宝石 / 巴扎藏宝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0E627-509A-447B-AB0F-F5F09683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中东方向要做高级、金色、宝石和商队冒险感；保留奇幻和宝藏表达，避开敏感宗教符号。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5B933-F178-4443-811F-0A8DF741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575DB-7408-4534-BEE9-BE0DCCFD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08E11-3961-419B-B129-547F469D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3FD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A2E2D-89D7-4D2E-92C8-6F7FCE54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4B2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5CB55-9794-47E4-882D-9240C961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86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e00c514d64343"/>
          <a:srcRect xmlns:a="http://schemas.openxmlformats.org/drawingml/2006/main" l="0" t="2533" r="0" b="25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609600"/>
            <a:ext cx="2381250" cy="1695450"/>
          </a:xfrm>
          <a:prstGeom xmlns:a="http://schemas.openxmlformats.org/drawingml/2006/main" prst="roundRect">
            <a:avLst>
              <a:gd name="adj" fmla="val 4494"/>
            </a:avLst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7a38ce6e148cb"/>
          <a:srcRect xmlns:a="http://schemas.openxmlformats.org/drawingml/2006/main" l="0" t="14400" r="0" b="144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48750" y="609600"/>
            <a:ext cx="2381250" cy="1695450"/>
          </a:xfrm>
          <a:prstGeom xmlns:a="http://schemas.openxmlformats.org/drawingml/2006/main" prst="roundRect">
            <a:avLst>
              <a:gd name="adj" fmla="val 4494"/>
            </a:avLst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5843ec4894c43"/>
          <a:srcRect xmlns:a="http://schemas.openxmlformats.org/drawingml/2006/main" l="0" t="14400" r="0" b="144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2495550"/>
            <a:ext cx="2381250" cy="1695450"/>
          </a:xfrm>
          <a:prstGeom xmlns:a="http://schemas.openxmlformats.org/drawingml/2006/main" prst="roundRect">
            <a:avLst>
              <a:gd name="adj" fmla="val 4494"/>
            </a:avLst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e63c8dfaad4ba4"/>
          <a:srcRect xmlns:a="http://schemas.openxmlformats.org/drawingml/2006/main" l="0" t="4486" r="0" b="44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48750" y="2495550"/>
            <a:ext cx="2381250" cy="1695450"/>
          </a:xfrm>
          <a:prstGeom xmlns:a="http://schemas.openxmlformats.org/drawingml/2006/main" prst="roundRect">
            <a:avLst>
              <a:gd name="adj" fmla="val 449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1EA2F-1876-46D3-B7EF-7DB09C64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9488"/>
                </a:solidFill>
              </a:defRPr>
            </a:pPr>
            <a:r>
              <a:rPr sz="1500" b="1">
                <a:solidFill>
                  <a:srgbClr val="0D9488"/>
                </a:solidFill>
              </a:rPr>
              <a:t>美术风格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48F3E4-1908-413D-81CF-934B8036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813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精致卡通，金色装饰、蓝绿宝石、暖色沙漠和巴扎布幔。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53498F-2714-4C6F-BE2E-324CCE7A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9488"/>
                </a:solidFill>
              </a:defRPr>
            </a:pPr>
            <a:r>
              <a:rPr sz="1500" b="1">
                <a:solidFill>
                  <a:srgbClr val="0D9488"/>
                </a:solidFill>
              </a:rPr>
              <a:t>UI风格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FDAB42-D91F-41C2-8E16-1FA51E26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718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宝箱框、卷轴目标栏、金币边框，适配阿语从右向左的空间预留。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A42356-96EF-4298-AA18-1848C1F9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9488"/>
                </a:solidFill>
              </a:defRPr>
            </a:pPr>
            <a:r>
              <a:rPr sz="1500" b="1">
                <a:solidFill>
                  <a:srgbClr val="0D9488"/>
                </a:solidFill>
              </a:rPr>
              <a:t>角色设计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48388A-605D-40F0-9C08-295CBAC3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624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年轻商队探险者、宝石商人、沙漠猫、骆驼伙伴。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480DD3-2E67-4D73-B027-53C784AE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9488"/>
                </a:solidFill>
              </a:defRPr>
            </a:pPr>
            <a:r>
              <a:rPr sz="1500" b="1">
                <a:solidFill>
                  <a:srgbClr val="0D9488"/>
                </a:solidFill>
              </a:rPr>
              <a:t>合成替换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17C2C1-E8E6-4E8D-827D-CB77CCCE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529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宝石、金币、香料罐、神灯、宝箱逐级合成。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855B16-A3A8-4EC0-8C40-B4E7521C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9488"/>
                </a:solidFill>
              </a:defRPr>
            </a:pPr>
            <a:r>
              <a:rPr sz="1500" b="1">
                <a:solidFill>
                  <a:srgbClr val="0D9488"/>
                </a:solidFill>
              </a:rPr>
              <a:t>素材卖点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7CD90F-E651-480D-BC7D-F59C5B6F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1435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“3颗宝石合成黄金王冠”“打开沙漠宝藏”。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BDBBE-0AF5-46FD-A96C-256541CC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这关太疯狂 换皮美术方向分析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E188F1-3690-449F-B640-D735264F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540911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03F751-A59A-483A-83CF-93B2B38C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33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9ACD"/>
          </a:solidFill>
          <a:ln xmlns:a="http://schemas.openxmlformats.org/drawingml/2006/main" w="9525">
            <a:solidFill>
              <a:srgbClr val="FF9AC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全球通用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05C90-47EB-4A59-BA9D-3FE444A5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萌宠星球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356E8-5860-477C-9E62-A1BBE677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萌宠文化门槛最低，适合全球素材测试；宠物蛋和收集册能补上原玩法缺少的长期目标。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9BF08-DB31-4372-8847-65E127DE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D7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F1DE3-F790-4442-9AC0-7FF0ECC9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C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F8086-CD6E-4603-B8AB-DE79FFD2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06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8F912-A259-404A-91DB-914A1F9C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E77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3555F-8A2D-4FF1-ADF6-5D5122AD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86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A7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67f5de61d477f"/>
          <a:srcRect xmlns:a="http://schemas.openxmlformats.org/drawingml/2006/main" l="10499" t="0" r="104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609600"/>
            <a:ext cx="2381250" cy="1695450"/>
          </a:xfrm>
          <a:prstGeom xmlns:a="http://schemas.openxmlformats.org/drawingml/2006/main" prst="roundRect">
            <a:avLst>
              <a:gd name="adj" fmla="val 4494"/>
            </a:avLst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07c95f034e469a"/>
          <a:srcRect xmlns:a="http://schemas.openxmlformats.org/drawingml/2006/main" l="0" t="29975" r="0" b="299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48750" y="609600"/>
            <a:ext cx="2381250" cy="1695450"/>
          </a:xfrm>
          <a:prstGeom xmlns:a="http://schemas.openxmlformats.org/drawingml/2006/main" prst="roundRect">
            <a:avLst>
              <a:gd name="adj" fmla="val 4494"/>
            </a:avLst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36111e8d74ae1"/>
          <a:srcRect xmlns:a="http://schemas.openxmlformats.org/drawingml/2006/main" l="0" t="14400" r="0" b="144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2495550"/>
            <a:ext cx="2381250" cy="1695450"/>
          </a:xfrm>
          <a:prstGeom xmlns:a="http://schemas.openxmlformats.org/drawingml/2006/main" prst="roundRect">
            <a:avLst>
              <a:gd name="adj" fmla="val 4494"/>
            </a:avLst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ba5b34a304093"/>
          <a:srcRect xmlns:a="http://schemas.openxmlformats.org/drawingml/2006/main" l="10499" t="0" r="104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48750" y="2495550"/>
            <a:ext cx="2381250" cy="1695450"/>
          </a:xfrm>
          <a:prstGeom xmlns:a="http://schemas.openxmlformats.org/drawingml/2006/main" prst="roundRect">
            <a:avLst>
              <a:gd name="adj" fmla="val 449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25413-52B7-41F9-8784-2F6A833C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DD7FF"/>
                </a:solidFill>
              </a:defRPr>
            </a:pPr>
            <a:r>
              <a:rPr sz="1500" b="1">
                <a:solidFill>
                  <a:srgbClr val="8DD7FF"/>
                </a:solidFill>
              </a:rPr>
              <a:t>美术风格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71FCAE-BC50-4125-8714-197B6195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813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Q版软萌、低攻击性、浅色背景、圆润宠物头像。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D78B10-3252-4041-A7C5-1B756E08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DD7FF"/>
                </a:solidFill>
              </a:defRPr>
            </a:pPr>
            <a:r>
              <a:rPr sz="1500" b="1">
                <a:solidFill>
                  <a:srgbClr val="8DD7FF"/>
                </a:solidFill>
              </a:rPr>
              <a:t>UI风格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745C1-9023-4156-96F2-B2572E4C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718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浅蓝/浅绿底，爪印和宠物屋装饰，奖励弹窗温暖轻松。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CDCD0D-D4A2-4DAC-B38A-BA7173E7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DD7FF"/>
                </a:solidFill>
              </a:defRPr>
            </a:pPr>
            <a:r>
              <a:rPr sz="1500" b="1">
                <a:solidFill>
                  <a:srgbClr val="8DD7FF"/>
                </a:solidFill>
              </a:rPr>
              <a:t>角色设计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85B68-378E-43D0-B96B-295E3AE1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624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小猫、小狗、仓鼠、企鹅、机器人宠物，配一名宠物管理员。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CFD91C-4B36-41C4-9F1D-1DDBAD50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DD7FF"/>
                </a:solidFill>
              </a:defRPr>
            </a:pPr>
            <a:r>
              <a:rPr sz="1500" b="1">
                <a:solidFill>
                  <a:srgbClr val="8DD7FF"/>
                </a:solidFill>
              </a:rPr>
              <a:t>合成替换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FE05F7-761C-4855-9E6B-C0ABF3E5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529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宠物蛋、宠物食物、玩具球、小窝逐级合成，解锁稀有宠物。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2F449F-E147-4F35-8A1F-ADBC3FE6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DD7FF"/>
                </a:solidFill>
              </a:defRPr>
            </a:pPr>
            <a:r>
              <a:rPr sz="1500" b="1">
                <a:solidFill>
                  <a:srgbClr val="8DD7FF"/>
                </a:solidFill>
              </a:rPr>
              <a:t>素材卖点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7C5CA9-39F8-41E7-9EA4-6181D86B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1435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“3个宠物蛋合成隐藏神宠”“收集全星球萌宠”。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009783-B6F7-45C0-A472-E886DED5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这关太疯狂 换皮美术方向分析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4531AD-FCE3-4299-8AB0-B99DE6D0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910330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89B18A-689A-4BEE-A29C-089C3215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复刻优先级建议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A227D-4D2E-48D6-B85E-8DD97E0B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先用全球通用和北美方向验证素材，再把东南亚与中东做成地区化主题包。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8D43B-F9A8-47FC-955B-73F8BDE0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0001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2D38B-8E7D-4ECA-B2E6-188F7CAD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24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D7FF"/>
          </a:solidFill>
          <a:ln xmlns:a="http://schemas.openxmlformats.org/drawingml/2006/main" w="9525">
            <a:solidFill>
              <a:srgbClr val="8DD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EEFB7-ADC4-4EDC-BDAB-51135790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萌宠星球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3EA3B-04B4-4750-BBC0-17E9CC0B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3357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文化风险最低，角色收集能补长期目标，适合全球素材测试。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6C0D2-6F21-4128-A8BB-F50698A3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10001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AE5AE-2EF1-4168-8876-BF767B87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047"/>
          </a:solidFill>
          <a:ln xmlns:a="http://schemas.openxmlformats.org/drawingml/2006/main" w="9525">
            <a:solidFill>
              <a:srgbClr val="FFD0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F270F-5F6E-47E9-9758-978A5D40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76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玩具糖果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3E9E2-8A12-4507-B7AF-0653E5CF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8607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北美休闲用户熟悉，UI范式成熟，过关反馈容易做高品质。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0F8A2-1CBD-4ADF-8236-2025C71D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10001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AD3A8-C349-47FA-8BE8-5B2381A4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9525">
            <a:solidFill>
              <a:srgbClr val="00B8A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707245-A40C-40BE-AD46-75F997EF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829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热带夜市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DCC066-6162-4DE1-AE06-086A74DD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3857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东南亚地区识别强，美食和水果素材天然吸量。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E884BD-5E83-4A56-8D07-E43E64C5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10001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9D5C33-D972-4BD2-8139-11668D21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81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59829A-4BEB-41D3-90D1-78D00158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81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沙漠宝石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A11F46-C07B-4BC6-B446-5F7E55D2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9107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宝石和黄金反馈强，但本地化和文化边界要更谨慎。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EE8E2C-9A13-40A3-86BF-79F06D79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这关太疯狂 换皮美术方向分析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2FB063-8B72-4B99-9350-A0E7E730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841773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7DCEB9-C3F8-48B4-9F5F-7AD1FF0B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每套皮肤都要交付六类核心资产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39BEF-963D-429E-9B27-0F5EEC59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先把资产颗粒度做对，后续才能快速产关卡、做活动和扩展买量素材。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C8EC9-8CD7-40AA-A833-7A018E0A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3105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0BB9D-7483-45B0-BD93-BC031D16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基础合成物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20DF8-1917-40E8-84CC-5004AF54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527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小、中、大三档，负责替换数字方块。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3CC65-4931-4ADC-B5DD-76118D1C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105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8AF8B-BC40-4053-9BA1-F31927B8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71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高级目标物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E2855-7E41-4FC0-81BA-2B80A075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关卡胜利的终极合成物，负责炫耀感。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E9251-4BAE-47DA-B165-43904107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43100"/>
            <a:ext cx="3105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756B6-1C58-402A-8B3D-D1001D13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71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道具图标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42D73-40B6-4B9B-B1E9-1CAB3A45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527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撤回、刷新、消除、加步数、万能合成。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6DD79-5CDE-46C4-AD9A-C595F8DE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3105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B9DD6-8892-4A8F-A657-896BBF04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29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角色助手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B0DD6-B132-4912-A700-2E925495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新手引导、失败挽留、胜利庆祝。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D6E0E9-8DFD-4358-B13B-DB7CBF3D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00450"/>
            <a:ext cx="3105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3F4798-5A4E-415D-BB39-E4F9CFE7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29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主题背景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C36C26-DF2C-40AD-9966-EEA3575B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100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每20-50关换一次，降低视觉疲劳。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3F7DE5-9055-4390-A223-DE93A778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00450"/>
            <a:ext cx="3105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93E1F3-D94C-4D52-BC2A-F51671B2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29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素材模板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F3D770-7DD0-4DCE-A398-2271B78B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100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3秒展示合成链、卡关救场和大奖励。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131590-3318-4E20-AA6A-E7272DEF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这关太疯狂 换皮美术方向分析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030A72-9F0F-4C47-ADE4-33AE4D08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244670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567A9E-020F-40BF-BDE5-045685AC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推荐落地路线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F5CB6-0F30-40A1-827D-F093A03D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1D5DB"/>
                </a:solidFill>
              </a:defRPr>
            </a:pPr>
            <a:r>
              <a:rPr sz="1800">
                <a:solidFill>
                  <a:srgbClr val="D1D5DB"/>
                </a:solidFill>
              </a:rPr>
              <a:t>第一阶段优先做“萌宠星球”和“糖果玩具”两套可全球测试的视觉包；用同一套关卡内核验证素材点击率、首局完成率和广告道具使用率。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840A4-9BC2-4792-8850-592E4FD8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2952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0C086-9B06-4C9A-BF1F-ECE779EA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5143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3C92A-B012-4E00-B439-EED84D06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57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做两套皮肤包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3C5F3-57D0-4DDA-AA01-93121F42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1D5DB"/>
                </a:solidFill>
              </a:defRPr>
            </a:pPr>
            <a:r>
              <a:rPr sz="1350">
                <a:solidFill>
                  <a:srgbClr val="D1D5DB"/>
                </a:solidFill>
              </a:rPr>
              <a:t>宠物蛋合成与糖果积木合成，覆盖全球和北美。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E3613-CAEE-4559-916C-632A9825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95600"/>
            <a:ext cx="2952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020A6-157C-45B5-AE75-BB883FEB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43250"/>
            <a:ext cx="5143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0C989-054D-4628-AA46-C2F75580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57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跑三类素材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237C3B-4BFD-42F1-806D-689E9C3A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7670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1D5DB"/>
                </a:solidFill>
              </a:defRPr>
            </a:pPr>
            <a:r>
              <a:rPr sz="1350">
                <a:solidFill>
                  <a:srgbClr val="D1D5DB"/>
                </a:solidFill>
              </a:rPr>
              <a:t>合成升级、卡关救场、大奖励开箱。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D9585F-31E7-41F2-A61F-46D95893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2952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0E781-4D8D-4CA8-8C34-828520D2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5143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E79C2-23D9-4473-AFF7-9255A040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57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看三组指标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366BA-C879-4781-9D31-D02F3EFB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7670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1D5DB"/>
                </a:solidFill>
              </a:defRPr>
            </a:pPr>
            <a:r>
              <a:rPr sz="1350">
                <a:solidFill>
                  <a:srgbClr val="D1D5DB"/>
                </a:solidFill>
              </a:rPr>
              <a:t>CTR、前5关到达率、激励广告触发率。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1BA62-0B58-4C57-9D79-1FBE9D2B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DE68A"/>
                </a:solidFill>
              </a:defRPr>
            </a:pPr>
            <a:r>
              <a:rPr sz="1650" b="1">
                <a:solidFill>
                  <a:srgbClr val="FDE68A"/>
                </a:solidFill>
              </a:rPr>
              <a:t>核心判断：不是哪套皮肤最好看，而是哪套皮肤能让玩家一眼看懂“合成后会变得更值钱”。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7D370-0D9D-4B08-907C-62F0A717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这关太疯狂 换皮美术方向分析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02A94A-628E-437A-9853-25138B60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868782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2026-07-04T02:38:28.9730000Z</dcterms:created>
  <dcterms:modified xsi:type="dcterms:W3CDTF">2026-07-04T02:38:28.9730000Z</dcterms:modified>
</coreProperties>
</file>